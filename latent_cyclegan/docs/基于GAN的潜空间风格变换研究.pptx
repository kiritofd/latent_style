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6" r:id="rId4"/>
    <p:sldId id="273" r:id="rId5"/>
    <p:sldId id="276" r:id="rId6"/>
    <p:sldId id="258" r:id="rId7"/>
    <p:sldId id="259" r:id="rId8"/>
    <p:sldId id="263" r:id="rId9"/>
    <p:sldId id="270" r:id="rId10"/>
    <p:sldId id="271" r:id="rId11"/>
    <p:sldId id="274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82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278" y="7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6B0CA-6033-42D0-ADBB-936B2E38EFF8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C0A64-5D1C-45F4-8397-6E8EBB100E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843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C0A64-5D1C-45F4-8397-6E8EBB100E0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9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C0A64-5D1C-45F4-8397-6E8EBB100E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96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C0A64-5D1C-45F4-8397-6E8EBB100E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43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C0A64-5D1C-45F4-8397-6E8EBB100E0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29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37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66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73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1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44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98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30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76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11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227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230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4659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618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218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01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DD865-103E-4A8B-BEDB-2A6AB3F314A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A39F0E-3923-484F-A0B3-03D2906FF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98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FD167-EB94-0A30-6F76-F50B0C2C37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3600" dirty="0" err="1"/>
              <a:t>Latent_GAN</a:t>
            </a:r>
            <a:br>
              <a:rPr lang="en-US" altLang="zh-CN" sz="3600" dirty="0"/>
            </a:br>
            <a:r>
              <a:rPr lang="zh-CN" altLang="en-US" sz="3600" dirty="0"/>
              <a:t>基于</a:t>
            </a:r>
            <a:r>
              <a:rPr lang="en-US" altLang="zh-CN" sz="3600" dirty="0"/>
              <a:t>GAN</a:t>
            </a:r>
            <a:r>
              <a:rPr lang="zh-CN" altLang="en-US" sz="3600" dirty="0"/>
              <a:t>的潜空间风格变换实验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DC8658-7F48-3211-47B1-0B63ED9DF6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92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B3B9E-114E-78CA-F4D8-9C583E02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44B76-4EC1-C0D5-41F9-4CC61ECD9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r>
              <a:rPr lang="zh-CN" altLang="en-US" dirty="0"/>
              <a:t>实验特色：所有训练数据都为潜空间数据，不是常规图片</a:t>
            </a:r>
            <a:endParaRPr lang="en-US" altLang="zh-CN" dirty="0"/>
          </a:p>
          <a:p>
            <a:r>
              <a:rPr lang="en-US" altLang="zh-CN" dirty="0" err="1"/>
              <a:t>cycleGAN</a:t>
            </a:r>
            <a:r>
              <a:rPr lang="zh-CN" altLang="en-US" dirty="0"/>
              <a:t>：学习两种风格之间的转换（具体为莫奈风格与现实风格）</a:t>
            </a:r>
            <a:endParaRPr lang="en-US" altLang="zh-CN" dirty="0"/>
          </a:p>
          <a:p>
            <a:r>
              <a:rPr lang="en-US" altLang="zh-CN" dirty="0" err="1"/>
              <a:t>starGAN</a:t>
            </a:r>
            <a:r>
              <a:rPr lang="zh-CN" altLang="en-US" dirty="0"/>
              <a:t>：学习五种风格之间的转换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38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977DE-03DC-D878-6061-E804B666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62" y="350982"/>
            <a:ext cx="8596668" cy="1320800"/>
          </a:xfrm>
        </p:spPr>
        <p:txBody>
          <a:bodyPr/>
          <a:lstStyle/>
          <a:p>
            <a:r>
              <a:rPr lang="zh-CN" altLang="en-US" dirty="0"/>
              <a:t>实验效果</a:t>
            </a:r>
            <a:r>
              <a:rPr lang="en-US" altLang="zh-CN" dirty="0"/>
              <a:t>——</a:t>
            </a:r>
            <a:r>
              <a:rPr lang="en-US" altLang="zh-CN" dirty="0" err="1"/>
              <a:t>cycleGAN</a:t>
            </a:r>
            <a:r>
              <a:rPr lang="en-US" altLang="zh-CN" dirty="0"/>
              <a:t> monet2photo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3BFAA8-8D7A-B1D8-BEE0-6D83B4398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90" y="3927872"/>
            <a:ext cx="7315200" cy="2705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A69D99-4B19-6C76-0ECC-B224434F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90" y="1222772"/>
            <a:ext cx="73152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8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A3AF-0E10-DB83-BE2D-726681898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6EE52-41B5-9EC6-703A-5C1DB43C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61" y="323273"/>
            <a:ext cx="8596668" cy="1320800"/>
          </a:xfrm>
        </p:spPr>
        <p:txBody>
          <a:bodyPr/>
          <a:lstStyle/>
          <a:p>
            <a:r>
              <a:rPr lang="zh-CN" altLang="en-US" dirty="0"/>
              <a:t>实验效果</a:t>
            </a:r>
            <a:r>
              <a:rPr lang="en-US" altLang="zh-CN" dirty="0"/>
              <a:t>——</a:t>
            </a:r>
            <a:r>
              <a:rPr lang="en-US" altLang="zh-CN" dirty="0" err="1"/>
              <a:t>cycleGAN</a:t>
            </a:r>
            <a:r>
              <a:rPr lang="en-US" altLang="zh-CN" dirty="0"/>
              <a:t> photo2monet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149D9A4-E56D-8522-A067-4ACF89861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90" y="1222772"/>
            <a:ext cx="7315200" cy="27051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08A5F37-595F-2596-DC79-DD7CCE5C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16" y="3990029"/>
            <a:ext cx="73152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1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3D54-FB8D-7BCD-D524-3028F3DB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BC20E-789E-E609-4ABF-1F2C300FD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实验效果</a:t>
            </a:r>
            <a:r>
              <a:rPr lang="en-US" altLang="zh-CN" dirty="0"/>
              <a:t>——</a:t>
            </a:r>
            <a:r>
              <a:rPr lang="zh-CN" altLang="en-US" dirty="0"/>
              <a:t>分数表现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74C782-B401-352F-4387-A0509DBCA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8" y="1371180"/>
            <a:ext cx="7961746" cy="506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0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C1DB4-E461-69B2-E706-2C88716A8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方法介绍</a:t>
            </a:r>
            <a:r>
              <a:rPr lang="en-US" altLang="zh-CN" dirty="0"/>
              <a:t>——</a:t>
            </a:r>
            <a:r>
              <a:rPr lang="en-US" altLang="zh-CN" dirty="0" err="1"/>
              <a:t>cycleGAN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8FB298-E20D-59BE-19A5-A1620E8218A1}"/>
              </a:ext>
            </a:extLst>
          </p:cNvPr>
          <p:cNvSpPr txBox="1"/>
          <p:nvPr/>
        </p:nvSpPr>
        <p:spPr>
          <a:xfrm>
            <a:off x="715661" y="2054400"/>
            <a:ext cx="555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对抗损失：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7DC26B-4CA3-6DA6-0F37-914FDD2CE18B}"/>
              </a:ext>
            </a:extLst>
          </p:cNvPr>
          <p:cNvSpPr txBox="1"/>
          <p:nvPr/>
        </p:nvSpPr>
        <p:spPr>
          <a:xfrm>
            <a:off x="715661" y="2918693"/>
            <a:ext cx="5872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循环一致性损失：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F2942B-BBA7-2D25-9372-079612A98A03}"/>
              </a:ext>
            </a:extLst>
          </p:cNvPr>
          <p:cNvSpPr txBox="1"/>
          <p:nvPr/>
        </p:nvSpPr>
        <p:spPr>
          <a:xfrm>
            <a:off x="715661" y="4928438"/>
            <a:ext cx="5096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总损失函数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A2FFAE-3272-9A23-51F6-7844DC7229B7}"/>
              </a:ext>
            </a:extLst>
          </p:cNvPr>
          <p:cNvSpPr txBox="1"/>
          <p:nvPr/>
        </p:nvSpPr>
        <p:spPr>
          <a:xfrm>
            <a:off x="715661" y="3804415"/>
            <a:ext cx="407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补充：</a:t>
            </a:r>
            <a:r>
              <a:rPr lang="en-US" altLang="zh-CN" dirty="0"/>
              <a:t>Identity </a:t>
            </a:r>
            <a:r>
              <a:rPr lang="zh-CN" altLang="en-US" dirty="0"/>
              <a:t>损失</a:t>
            </a:r>
            <a:endParaRPr lang="en-US" altLang="zh-CN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B8EBB86-2290-09D4-D054-D97517039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61" y="2397469"/>
            <a:ext cx="7433763" cy="49558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B4C6402-EC73-9090-AACF-480D8CF21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61" y="3313665"/>
            <a:ext cx="6893818" cy="502431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4B7DC32-A151-A7E6-B0C1-D0A79AA44C7D}"/>
              </a:ext>
            </a:extLst>
          </p:cNvPr>
          <p:cNvSpPr txBox="1"/>
          <p:nvPr/>
        </p:nvSpPr>
        <p:spPr>
          <a:xfrm>
            <a:off x="715661" y="1443144"/>
            <a:ext cx="3913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损失函数构成：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1AD17F2-CE49-606E-726F-CFC77D872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61" y="5336245"/>
            <a:ext cx="10995554" cy="493581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5FA81CB8-B8FD-61B0-F977-D023F6B566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226578"/>
            <a:ext cx="8484394" cy="60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0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80EDB-38FC-44EB-E46A-43C525CA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latent_cycleGAN</a:t>
            </a:r>
            <a:r>
              <a:rPr lang="en-US" altLang="zh-CN" dirty="0"/>
              <a:t>——</a:t>
            </a:r>
            <a:r>
              <a:rPr lang="zh-CN" altLang="en-US" dirty="0"/>
              <a:t>激活函数调整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27E235-749E-54FF-011F-8680737D9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8412"/>
            <a:ext cx="8596668" cy="3880773"/>
          </a:xfrm>
        </p:spPr>
        <p:txBody>
          <a:bodyPr/>
          <a:lstStyle/>
          <a:p>
            <a:r>
              <a:rPr lang="zh-CN" altLang="en-US" dirty="0"/>
              <a:t>数值分析：将生成器最后一层的</a:t>
            </a:r>
            <a:r>
              <a:rPr lang="en-US" altLang="zh-CN" dirty="0"/>
              <a:t>tanh</a:t>
            </a:r>
            <a:r>
              <a:rPr lang="zh-CN" altLang="en-US" dirty="0"/>
              <a:t>激活函数删去，且不进行线性缩放</a:t>
            </a:r>
            <a:endParaRPr lang="en-US" altLang="zh-CN" dirty="0"/>
          </a:p>
          <a:p>
            <a:r>
              <a:rPr lang="zh-CN" altLang="en-US" dirty="0"/>
              <a:t>原因：原版</a:t>
            </a:r>
            <a:r>
              <a:rPr lang="en-US" altLang="zh-CN" dirty="0" err="1"/>
              <a:t>CycleGAN</a:t>
            </a:r>
            <a:r>
              <a:rPr lang="zh-CN" altLang="en-US" dirty="0"/>
              <a:t>在像素空间使用</a:t>
            </a:r>
            <a:r>
              <a:rPr lang="en-US" altLang="zh-CN" dirty="0"/>
              <a:t>tanh</a:t>
            </a:r>
            <a:r>
              <a:rPr lang="zh-CN" altLang="en-US" dirty="0"/>
              <a:t>，是因为图像经过归一化后目标范围固定为</a:t>
            </a:r>
            <a:r>
              <a:rPr lang="en-US" altLang="zh-CN" dirty="0"/>
              <a:t>[-1,1]</a:t>
            </a:r>
            <a:r>
              <a:rPr lang="zh-CN" altLang="en-US" dirty="0"/>
              <a:t>，便于还原成像素图片。</a:t>
            </a:r>
          </a:p>
          <a:p>
            <a:r>
              <a:rPr lang="zh-CN" altLang="en-US" dirty="0"/>
              <a:t>而在</a:t>
            </a:r>
            <a:r>
              <a:rPr lang="en-US" altLang="zh-CN" dirty="0"/>
              <a:t>VAE</a:t>
            </a:r>
            <a:r>
              <a:rPr lang="zh-CN" altLang="en-US" dirty="0"/>
              <a:t>潜空间中，目标变量是以零为中心、近似高斯但无固定上下界的连续表示。由于每张图片压缩得到的潜空间向量数值不同，为兼顾不同幅值通常需要引入缩放系数，但缩放过大时会压缩中心高概率区域并整体减小梯度，缩放过小时又会使较大幅值分量进入</a:t>
            </a:r>
            <a:r>
              <a:rPr lang="en-US" altLang="zh-CN" dirty="0"/>
              <a:t>tanh</a:t>
            </a:r>
            <a:r>
              <a:rPr lang="zh-CN" altLang="en-US" dirty="0"/>
              <a:t>的饱和区、导致梯度接近</a:t>
            </a:r>
            <a:r>
              <a:rPr lang="en-US" altLang="zh-CN" dirty="0"/>
              <a:t>0.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CEB2D5-BB16-4313-D22A-0D12E7155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387" y="3500880"/>
            <a:ext cx="2862613" cy="28626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A9A4F-4000-15D9-B8C3-970B1DA7E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244" y="3500879"/>
            <a:ext cx="2862614" cy="28626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C4B5A82-FEE3-D9A2-8C06-597E35F4745A}"/>
              </a:ext>
            </a:extLst>
          </p:cNvPr>
          <p:cNvSpPr txBox="1"/>
          <p:nvPr/>
        </p:nvSpPr>
        <p:spPr>
          <a:xfrm>
            <a:off x="1536033" y="6377681"/>
            <a:ext cx="219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线性缩放（除以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31D97B-8F57-CF60-129B-EFC555347DC8}"/>
              </a:ext>
            </a:extLst>
          </p:cNvPr>
          <p:cNvSpPr txBox="1"/>
          <p:nvPr/>
        </p:nvSpPr>
        <p:spPr>
          <a:xfrm>
            <a:off x="5480781" y="6363493"/>
            <a:ext cx="3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线性缩放（除以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  <a:r>
              <a:rPr lang="en-US" altLang="zh-CN" dirty="0"/>
              <a:t>+tanh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81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899D3-C3AC-6E2B-EE5F-C6B7A9BE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3FB7B-7CA2-DD1F-5947-698CB674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latent_cycleGAN</a:t>
            </a:r>
            <a:r>
              <a:rPr lang="en-US" altLang="zh-CN" dirty="0"/>
              <a:t>——</a:t>
            </a:r>
            <a:r>
              <a:rPr lang="zh-CN" altLang="en-US" dirty="0"/>
              <a:t>模型架构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D00996-1224-6F87-7CD4-FE6B7D91D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8412"/>
            <a:ext cx="8596668" cy="3880773"/>
          </a:xfrm>
        </p:spPr>
        <p:txBody>
          <a:bodyPr/>
          <a:lstStyle/>
          <a:p>
            <a:r>
              <a:rPr lang="zh-CN" altLang="en-US" dirty="0"/>
              <a:t>参数调整：调整卷积核大小</a:t>
            </a:r>
            <a:endParaRPr lang="en-US" altLang="zh-CN" dirty="0"/>
          </a:p>
          <a:p>
            <a:r>
              <a:rPr lang="zh-CN" altLang="en-US" dirty="0"/>
              <a:t>原因：</a:t>
            </a:r>
            <a:endParaRPr lang="en-US" altLang="zh-CN" dirty="0"/>
          </a:p>
          <a:p>
            <a:pPr lvl="1"/>
            <a:r>
              <a:rPr lang="zh-CN" altLang="en-US" dirty="0"/>
              <a:t>潜空间的特征图更小，通过减少卷积核大小来调整感受野</a:t>
            </a:r>
            <a:endParaRPr lang="en-US" altLang="zh-CN" dirty="0"/>
          </a:p>
          <a:p>
            <a:pPr lvl="1"/>
            <a:r>
              <a:rPr lang="zh-CN" altLang="en-US" dirty="0"/>
              <a:t>减少参数量</a:t>
            </a:r>
            <a:endParaRPr lang="en-US" altLang="zh-CN" dirty="0"/>
          </a:p>
          <a:p>
            <a:r>
              <a:rPr lang="zh-CN" altLang="en-US" dirty="0"/>
              <a:t>生成器采用残差结构，让模型专注于预测变化量，从而减小模型压力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69A4A7-C0D1-ED4A-EA5E-E92164B2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505664"/>
            <a:ext cx="2808011" cy="27025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506EE13-29DF-8E2A-A544-732AA1D19794}"/>
              </a:ext>
            </a:extLst>
          </p:cNvPr>
          <p:cNvSpPr txBox="1"/>
          <p:nvPr/>
        </p:nvSpPr>
        <p:spPr>
          <a:xfrm>
            <a:off x="1337119" y="6321374"/>
            <a:ext cx="148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resnet</a:t>
            </a:r>
            <a:r>
              <a:rPr lang="en-US" altLang="zh-CN" dirty="0"/>
              <a:t> block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F75F86-9590-F7F1-A4FF-2413DADB3162}"/>
              </a:ext>
            </a:extLst>
          </p:cNvPr>
          <p:cNvSpPr txBox="1"/>
          <p:nvPr/>
        </p:nvSpPr>
        <p:spPr>
          <a:xfrm>
            <a:off x="4673072" y="6316096"/>
            <a:ext cx="192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resnet</a:t>
            </a:r>
            <a:r>
              <a:rPr lang="en-US" altLang="zh-CN" dirty="0"/>
              <a:t> generator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E864B35-4194-D80F-2D77-3141748E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86" y="4125250"/>
            <a:ext cx="3077954" cy="21231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9C07733-CD46-41E4-8D25-8C9F52DCDDF0}"/>
              </a:ext>
            </a:extLst>
          </p:cNvPr>
          <p:cNvSpPr txBox="1"/>
          <p:nvPr/>
        </p:nvSpPr>
        <p:spPr>
          <a:xfrm>
            <a:off x="8180052" y="6316096"/>
            <a:ext cx="2284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patch discriminator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F31D14C-1498-3931-3BCF-96D5BEA7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463" y="3158740"/>
            <a:ext cx="2933504" cy="308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5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37210-9F9D-C1D0-0596-ED286A25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528848" cy="1320800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latent_cycleGAN</a:t>
            </a:r>
            <a:r>
              <a:rPr lang="en-US" altLang="zh-CN" dirty="0"/>
              <a:t>——</a:t>
            </a:r>
            <a:r>
              <a:rPr lang="zh-CN" altLang="en-US" dirty="0"/>
              <a:t>潜空间先验知识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FBDC5-908B-DCE2-D9FB-2EE30EC31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2822"/>
            <a:ext cx="8596668" cy="2066178"/>
          </a:xfrm>
        </p:spPr>
        <p:txBody>
          <a:bodyPr/>
          <a:lstStyle/>
          <a:p>
            <a:r>
              <a:rPr lang="zh-CN" altLang="en-US" dirty="0"/>
              <a:t>最初的训练代码中，数据集加载的逻辑写错了，导致</a:t>
            </a:r>
            <a:r>
              <a:rPr lang="en-US" altLang="zh-CN" dirty="0"/>
              <a:t>photo</a:t>
            </a:r>
            <a:r>
              <a:rPr lang="zh-CN" altLang="en-US" dirty="0"/>
              <a:t>数据集大小与</a:t>
            </a:r>
            <a:r>
              <a:rPr lang="en-US" altLang="zh-CN" dirty="0" err="1"/>
              <a:t>monet</a:t>
            </a:r>
            <a:r>
              <a:rPr lang="zh-CN" altLang="en-US" dirty="0"/>
              <a:t>一致。但观察到此时</a:t>
            </a:r>
            <a:r>
              <a:rPr lang="en-US" altLang="zh-CN" dirty="0"/>
              <a:t>monet2photo</a:t>
            </a:r>
            <a:r>
              <a:rPr lang="zh-CN" altLang="en-US" dirty="0"/>
              <a:t>效果仍然很好，仅</a:t>
            </a:r>
            <a:r>
              <a:rPr lang="en-US" altLang="zh-CN" dirty="0"/>
              <a:t>photo2monet</a:t>
            </a:r>
            <a:r>
              <a:rPr lang="zh-CN" altLang="en-US" dirty="0"/>
              <a:t>效果较差，推测原因如下：</a:t>
            </a:r>
            <a:endParaRPr lang="en-US" altLang="zh-CN" dirty="0"/>
          </a:p>
          <a:p>
            <a:pPr lvl="1"/>
            <a:r>
              <a:rPr lang="zh-CN" altLang="en-US" dirty="0"/>
              <a:t>由于</a:t>
            </a:r>
            <a:r>
              <a:rPr lang="en-US" altLang="zh-CN" dirty="0" err="1"/>
              <a:t>monet</a:t>
            </a:r>
            <a:r>
              <a:rPr lang="zh-CN" altLang="en-US" dirty="0"/>
              <a:t>数据集反复加载导致</a:t>
            </a:r>
            <a:r>
              <a:rPr lang="en-US" altLang="zh-CN" dirty="0"/>
              <a:t>D_A</a:t>
            </a:r>
            <a:r>
              <a:rPr lang="zh-CN" altLang="en-US" dirty="0"/>
              <a:t>过拟合，无法给出有效的训练指导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Sd1.5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 err="1">
                <a:solidFill>
                  <a:srgbClr val="FF0000"/>
                </a:solidFill>
              </a:rPr>
              <a:t>vae</a:t>
            </a:r>
            <a:r>
              <a:rPr lang="zh-CN" altLang="en-US" dirty="0">
                <a:solidFill>
                  <a:srgbClr val="FF0000"/>
                </a:solidFill>
              </a:rPr>
              <a:t>在大量真实数据上进行训练，对于真实图片的潜空间分布有较强的先验知识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45C07A-2DBF-4E0D-22B0-2B05DD78E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73" y="3220059"/>
            <a:ext cx="5097140" cy="34150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AC84F5-1ADC-174F-3CAA-BECE11343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220059"/>
            <a:ext cx="5097139" cy="34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9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A38EE-B02F-32AF-F0A7-4B5981A7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latent_cycleGAN</a:t>
            </a:r>
            <a:r>
              <a:rPr lang="en-US" altLang="zh-CN" dirty="0"/>
              <a:t>——</a:t>
            </a:r>
            <a:r>
              <a:rPr lang="zh-CN" altLang="en-US" dirty="0"/>
              <a:t>进一步设计实验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70F54AE-2ACF-0596-7B86-B7CE944FB0AA}"/>
              </a:ext>
            </a:extLst>
          </p:cNvPr>
          <p:cNvSpPr txBox="1">
            <a:spLocks/>
          </p:cNvSpPr>
          <p:nvPr/>
        </p:nvSpPr>
        <p:spPr>
          <a:xfrm>
            <a:off x="472061" y="1337199"/>
            <a:ext cx="934374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设计实验，探索在不同</a:t>
            </a:r>
            <a:r>
              <a:rPr lang="en-US" altLang="zh-CN" dirty="0"/>
              <a:t>photo</a:t>
            </a:r>
            <a:r>
              <a:rPr lang="zh-CN" altLang="en-US" dirty="0"/>
              <a:t>数据集大小的情况下</a:t>
            </a:r>
            <a:r>
              <a:rPr lang="en-US" altLang="zh-CN" dirty="0" err="1"/>
              <a:t>latent_cycleGAN</a:t>
            </a:r>
            <a:r>
              <a:rPr lang="zh-CN" altLang="en-US" dirty="0"/>
              <a:t>的表现效果如何。</a:t>
            </a:r>
            <a:endParaRPr lang="en-US" altLang="zh-CN" dirty="0"/>
          </a:p>
          <a:p>
            <a:r>
              <a:rPr lang="zh-CN" altLang="en-US" dirty="0"/>
              <a:t>实验结果表明，</a:t>
            </a:r>
            <a:r>
              <a:rPr lang="en-US" altLang="zh-CN" dirty="0"/>
              <a:t>photo</a:t>
            </a:r>
            <a:r>
              <a:rPr lang="zh-CN" altLang="en-US" dirty="0"/>
              <a:t>数据量过小时，生成的图片较为模糊</a:t>
            </a:r>
            <a:endParaRPr lang="en-US" altLang="zh-CN" dirty="0"/>
          </a:p>
          <a:p>
            <a:r>
              <a:rPr lang="zh-CN" altLang="en-US" dirty="0"/>
              <a:t>但在</a:t>
            </a:r>
            <a:r>
              <a:rPr lang="en-US" altLang="zh-CN" dirty="0"/>
              <a:t>photo</a:t>
            </a:r>
            <a:r>
              <a:rPr lang="zh-CN" altLang="en-US" dirty="0"/>
              <a:t>图片为</a:t>
            </a:r>
            <a:r>
              <a:rPr lang="en-US" altLang="zh-CN" dirty="0" err="1"/>
              <a:t>monet</a:t>
            </a:r>
            <a:r>
              <a:rPr lang="zh-CN" altLang="en-US" dirty="0"/>
              <a:t>图片数量一半时，已经可以达到良好的效果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7378F5-D96E-9EE2-E1CC-17675DEC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21" y="2657999"/>
            <a:ext cx="3673548" cy="408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21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11F69-CB73-31BD-4F87-9CCD525B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latent_cycleGAN</a:t>
            </a:r>
            <a:r>
              <a:rPr lang="en-US" altLang="zh-CN" dirty="0"/>
              <a:t>——</a:t>
            </a:r>
            <a:r>
              <a:rPr lang="zh-CN" altLang="en-US" dirty="0"/>
              <a:t>损失曲线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FC9DEB3-58E1-013E-C279-DC9F4BB12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698" y="2977889"/>
            <a:ext cx="4110970" cy="3497552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88E5358-1CC6-5A9E-3F44-11DE3C5E7391}"/>
              </a:ext>
            </a:extLst>
          </p:cNvPr>
          <p:cNvSpPr txBox="1">
            <a:spLocks/>
          </p:cNvSpPr>
          <p:nvPr/>
        </p:nvSpPr>
        <p:spPr>
          <a:xfrm>
            <a:off x="677334" y="1268412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在这里，</a:t>
            </a:r>
            <a:r>
              <a:rPr lang="en-US" altLang="zh-CN" dirty="0"/>
              <a:t>A=</a:t>
            </a:r>
            <a:r>
              <a:rPr lang="en-US" altLang="zh-CN" dirty="0" err="1"/>
              <a:t>monet</a:t>
            </a:r>
            <a:r>
              <a:rPr lang="zh-CN" altLang="en-US" dirty="0"/>
              <a:t>，</a:t>
            </a:r>
            <a:r>
              <a:rPr lang="en-US" altLang="zh-CN" dirty="0"/>
              <a:t>B=photo</a:t>
            </a:r>
          </a:p>
          <a:p>
            <a:r>
              <a:rPr lang="zh-CN" altLang="en-US" dirty="0"/>
              <a:t>观察训练中的损失曲线，发现在训练后期，</a:t>
            </a:r>
            <a:r>
              <a:rPr lang="en-US" altLang="zh-CN" dirty="0"/>
              <a:t>D_B</a:t>
            </a:r>
            <a:r>
              <a:rPr lang="zh-CN" altLang="en-US" dirty="0"/>
              <a:t>的值更加接近</a:t>
            </a:r>
            <a:r>
              <a:rPr lang="en-US" altLang="zh-CN" dirty="0"/>
              <a:t>0.25</a:t>
            </a:r>
            <a:r>
              <a:rPr lang="zh-CN" altLang="en-US" dirty="0"/>
              <a:t>，这也意味着模型生成的现实风格图片效果更好</a:t>
            </a:r>
            <a:endParaRPr lang="en-US" altLang="zh-CN" dirty="0"/>
          </a:p>
          <a:p>
            <a:r>
              <a:rPr lang="zh-CN" altLang="en-US" dirty="0"/>
              <a:t>这意味着，预训练 </a:t>
            </a:r>
            <a:r>
              <a:rPr lang="en-US" altLang="zh-CN" dirty="0"/>
              <a:t>latent </a:t>
            </a:r>
            <a:r>
              <a:rPr lang="zh-CN" altLang="en-US" dirty="0"/>
              <a:t>空间与自然图像的分布更加接近，因此在有限数据下，</a:t>
            </a:r>
            <a:r>
              <a:rPr lang="en-US" altLang="zh-CN" dirty="0" err="1"/>
              <a:t>monet→photo</a:t>
            </a:r>
            <a:r>
              <a:rPr lang="en-US" altLang="zh-CN" dirty="0"/>
              <a:t> </a:t>
            </a:r>
            <a:r>
              <a:rPr lang="zh-CN" altLang="en-US" dirty="0"/>
              <a:t>比 </a:t>
            </a:r>
            <a:r>
              <a:rPr lang="en-US" altLang="zh-CN" dirty="0" err="1"/>
              <a:t>photo→monet</a:t>
            </a:r>
            <a:r>
              <a:rPr lang="en-US" altLang="zh-CN" dirty="0"/>
              <a:t> </a:t>
            </a:r>
            <a:r>
              <a:rPr lang="zh-CN" altLang="en-US" dirty="0"/>
              <a:t>更容易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2326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FD10B-4591-3E8B-49A9-5CFE7896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latent_cycleGAN</a:t>
            </a:r>
            <a:r>
              <a:rPr lang="en-US" altLang="zh-CN" dirty="0"/>
              <a:t>——</a:t>
            </a:r>
            <a:r>
              <a:rPr lang="zh-CN" altLang="en-US" dirty="0"/>
              <a:t>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61F63-8B82-699B-C00B-30FC208F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70000"/>
            <a:ext cx="9962957" cy="5407891"/>
          </a:xfrm>
        </p:spPr>
        <p:txBody>
          <a:bodyPr>
            <a:norm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pPr lvl="1"/>
            <a:r>
              <a:rPr lang="zh-CN" altLang="en-US" dirty="0"/>
              <a:t>训练速度极快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在</a:t>
            </a:r>
            <a:r>
              <a:rPr lang="en-US" altLang="zh-CN" dirty="0"/>
              <a:t>7k</a:t>
            </a:r>
            <a:r>
              <a:rPr lang="zh-CN" altLang="en-US" dirty="0"/>
              <a:t>张图片的</a:t>
            </a:r>
            <a:r>
              <a:rPr lang="en-US" altLang="zh-CN" dirty="0"/>
              <a:t>monet2photo</a:t>
            </a:r>
            <a:r>
              <a:rPr lang="zh-CN" altLang="en-US" dirty="0"/>
              <a:t>上进行学习，在</a:t>
            </a:r>
            <a:r>
              <a:rPr lang="en-US" altLang="zh-CN" dirty="0"/>
              <a:t>4060</a:t>
            </a:r>
            <a:r>
              <a:rPr lang="zh-CN" altLang="en-US" dirty="0"/>
              <a:t>笔记本上可以做到大约</a:t>
            </a:r>
            <a:r>
              <a:rPr lang="en-US" altLang="zh-CN" dirty="0"/>
              <a:t>25s/</a:t>
            </a:r>
            <a:r>
              <a:rPr lang="en-US" altLang="zh-CN" dirty="0" err="1"/>
              <a:t>kimg</a:t>
            </a:r>
            <a:r>
              <a:rPr lang="zh-CN" altLang="en-US" dirty="0"/>
              <a:t>（总共</a:t>
            </a:r>
            <a:r>
              <a:rPr lang="en-US" altLang="zh-CN" dirty="0"/>
              <a:t>214kimg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而原版的</a:t>
            </a:r>
            <a:r>
              <a:rPr lang="en-US" altLang="zh-CN" dirty="0" err="1"/>
              <a:t>cyclegan</a:t>
            </a:r>
            <a:r>
              <a:rPr lang="zh-CN" altLang="en-US" dirty="0"/>
              <a:t>以默认参数在</a:t>
            </a:r>
            <a:r>
              <a:rPr lang="en-US" altLang="zh-CN" dirty="0"/>
              <a:t>4060</a:t>
            </a:r>
            <a:r>
              <a:rPr lang="zh-CN" altLang="en-US" dirty="0"/>
              <a:t>笔记本上需要大约</a:t>
            </a:r>
            <a:r>
              <a:rPr lang="en-US" altLang="zh-CN" dirty="0"/>
              <a:t>100h</a:t>
            </a:r>
            <a:r>
              <a:rPr lang="zh-CN" altLang="en-US" dirty="0"/>
              <a:t>的学习</a:t>
            </a:r>
            <a:endParaRPr lang="en-US" altLang="zh-CN" dirty="0"/>
          </a:p>
          <a:p>
            <a:pPr lvl="1"/>
            <a:r>
              <a:rPr lang="zh-CN" altLang="en-US" dirty="0"/>
              <a:t>参数量极少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   单方向生成器仅</a:t>
            </a:r>
            <a:r>
              <a:rPr lang="en-US" altLang="zh-CN" dirty="0"/>
              <a:t>1.272M</a:t>
            </a:r>
            <a:r>
              <a:rPr lang="zh-CN" altLang="en-US" dirty="0"/>
              <a:t>（原版</a:t>
            </a:r>
            <a:r>
              <a:rPr lang="en-US" altLang="zh-CN" dirty="0" err="1"/>
              <a:t>cycleGAN</a:t>
            </a:r>
            <a:r>
              <a:rPr lang="zh-CN" altLang="en-US" dirty="0"/>
              <a:t>单方向为</a:t>
            </a:r>
            <a:r>
              <a:rPr lang="en-US" altLang="zh-CN" dirty="0"/>
              <a:t>11.389M</a:t>
            </a:r>
            <a:r>
              <a:rPr lang="zh-CN" altLang="en-US" dirty="0"/>
              <a:t>的参数量）</a:t>
            </a:r>
            <a:endParaRPr lang="en-US" altLang="zh-CN" dirty="0"/>
          </a:p>
          <a:p>
            <a:pPr lvl="1"/>
            <a:r>
              <a:rPr lang="zh-CN" altLang="en-US" dirty="0"/>
              <a:t>同时做到了优秀的效果</a:t>
            </a:r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pPr lvl="1"/>
            <a:r>
              <a:rPr lang="zh-CN" altLang="en-US" dirty="0"/>
              <a:t>多风格之间的映射需要多次学习</a:t>
            </a:r>
            <a:endParaRPr lang="en-US" altLang="zh-CN" dirty="0"/>
          </a:p>
          <a:p>
            <a:r>
              <a:rPr lang="zh-CN" altLang="en-US" dirty="0"/>
              <a:t>总结：</a:t>
            </a:r>
            <a:endParaRPr lang="en-US" altLang="zh-CN" dirty="0"/>
          </a:p>
          <a:p>
            <a:pPr lvl="1"/>
            <a:r>
              <a:rPr lang="en-US" altLang="zh-CN" dirty="0" err="1"/>
              <a:t>CycleGAN</a:t>
            </a:r>
            <a:r>
              <a:rPr lang="en-US" altLang="zh-CN" dirty="0"/>
              <a:t> </a:t>
            </a:r>
            <a:r>
              <a:rPr lang="zh-CN" altLang="en-US" dirty="0"/>
              <a:t>的目标函数形式相对直接，主要由对抗损失、循环一致性损失和身份损失组成，其中对抗损失负责推动结果接近目标域分布，循环一致性损失负责约束内容保持。</a:t>
            </a:r>
            <a:endParaRPr lang="en-US" altLang="zh-CN" dirty="0"/>
          </a:p>
          <a:p>
            <a:pPr lvl="1"/>
            <a:r>
              <a:rPr lang="zh-CN" altLang="en-US" dirty="0"/>
              <a:t>但对抗训练本质上是生成器与判别器之间的博弈优化，训练过程容易失衡，可能出现震荡、不稳定，且不同损失项之间的权重需要 </a:t>
            </a:r>
            <a:r>
              <a:rPr lang="en-US" altLang="zh-CN" dirty="0"/>
              <a:t>carefully </a:t>
            </a:r>
            <a:r>
              <a:rPr lang="zh-CN" altLang="en-US" dirty="0"/>
              <a:t>调整。</a:t>
            </a:r>
            <a:endParaRPr lang="en-US" altLang="zh-CN" dirty="0"/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50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E742730-D1DD-022F-EA69-9E89256E7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4" y="1230752"/>
            <a:ext cx="5611772" cy="54309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F90BE5-B9C0-6679-C0B0-33C337253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346" y="1230752"/>
            <a:ext cx="5611772" cy="543096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972D91-69AE-AAB3-A419-6D93A8276A26}"/>
              </a:ext>
            </a:extLst>
          </p:cNvPr>
          <p:cNvSpPr txBox="1"/>
          <p:nvPr/>
        </p:nvSpPr>
        <p:spPr>
          <a:xfrm>
            <a:off x="2404524" y="834129"/>
            <a:ext cx="164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随机噪声采样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D672B7-2465-0D32-DD2A-3A4F15EF5581}"/>
              </a:ext>
            </a:extLst>
          </p:cNvPr>
          <p:cNvSpPr txBox="1"/>
          <p:nvPr/>
        </p:nvSpPr>
        <p:spPr>
          <a:xfrm>
            <a:off x="8287519" y="861420"/>
            <a:ext cx="173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给定参考图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441013-AE09-F8E6-D74D-807F7631D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B7B822D-0D7E-5342-FD07-7C4D7ED1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74" y="219432"/>
            <a:ext cx="8596668" cy="1320800"/>
          </a:xfrm>
        </p:spPr>
        <p:txBody>
          <a:bodyPr/>
          <a:lstStyle/>
          <a:p>
            <a:r>
              <a:rPr lang="en-US" altLang="zh-CN" dirty="0" err="1"/>
              <a:t>starGAN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472321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7653</TotalTime>
  <Words>713</Words>
  <Application>Microsoft Office PowerPoint</Application>
  <PresentationFormat>宽屏</PresentationFormat>
  <Paragraphs>64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Arial</vt:lpstr>
      <vt:lpstr>Trebuchet MS</vt:lpstr>
      <vt:lpstr>Wingdings 3</vt:lpstr>
      <vt:lpstr>平面</vt:lpstr>
      <vt:lpstr>Latent_GAN 基于GAN的潜空间风格变换实验</vt:lpstr>
      <vt:lpstr>实验介绍</vt:lpstr>
      <vt:lpstr>实验效果——cycleGAN monet2photo</vt:lpstr>
      <vt:lpstr>实验效果——cycleGAN photo2monet</vt:lpstr>
      <vt:lpstr>实验效果——分数表现</vt:lpstr>
      <vt:lpstr>方法介绍——cycleGAN</vt:lpstr>
      <vt:lpstr>latent_cycleGAN——激活函数调整</vt:lpstr>
      <vt:lpstr>latent_cycleGAN——模型架构</vt:lpstr>
      <vt:lpstr>latent_cycleGAN——潜空间先验知识</vt:lpstr>
      <vt:lpstr>latent_cycleGAN——进一步设计实验</vt:lpstr>
      <vt:lpstr>latent_cycleGAN——损失曲线</vt:lpstr>
      <vt:lpstr>latent_cycleGAN——优缺点</vt:lpstr>
      <vt:lpstr>starGAN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62 travellingsheep</dc:creator>
  <cp:lastModifiedBy>62 travellingsheep</cp:lastModifiedBy>
  <cp:revision>176</cp:revision>
  <dcterms:created xsi:type="dcterms:W3CDTF">2026-03-09T08:17:18Z</dcterms:created>
  <dcterms:modified xsi:type="dcterms:W3CDTF">2026-04-03T08:35:55Z</dcterms:modified>
</cp:coreProperties>
</file>